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1" r:id="rId1"/>
  </p:sldMasterIdLst>
  <p:notesMasterIdLst>
    <p:notesMasterId r:id="rId17"/>
  </p:notesMasterIdLst>
  <p:sldIdLst>
    <p:sldId id="272" r:id="rId2"/>
    <p:sldId id="275" r:id="rId3"/>
    <p:sldId id="309" r:id="rId4"/>
    <p:sldId id="289" r:id="rId5"/>
    <p:sldId id="327" r:id="rId6"/>
    <p:sldId id="311" r:id="rId7"/>
    <p:sldId id="312" r:id="rId8"/>
    <p:sldId id="335" r:id="rId9"/>
    <p:sldId id="333" r:id="rId10"/>
    <p:sldId id="352" r:id="rId11"/>
    <p:sldId id="353" r:id="rId12"/>
    <p:sldId id="354" r:id="rId13"/>
    <p:sldId id="349" r:id="rId14"/>
    <p:sldId id="350" r:id="rId15"/>
    <p:sldId id="35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mad Yusuf" initials="MY" lastIdx="1" clrIdx="0">
    <p:extLst>
      <p:ext uri="{19B8F6BF-5375-455C-9EA6-DF929625EA0E}">
        <p15:presenceInfo xmlns:p15="http://schemas.microsoft.com/office/powerpoint/2012/main" userId="061c1fc54e8fd07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41" autoAdjust="0"/>
    <p:restoredTop sz="95841" autoAdjust="0"/>
  </p:normalViewPr>
  <p:slideViewPr>
    <p:cSldViewPr snapToGrid="0">
      <p:cViewPr varScale="1">
        <p:scale>
          <a:sx n="80" d="100"/>
          <a:sy n="80" d="100"/>
        </p:scale>
        <p:origin x="533"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7-20T07:24:30.152"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BE9BFE-6597-4E47-9B6F-0BFE8C2F4016}" type="datetimeFigureOut">
              <a:rPr lang="en-IN" smtClean="0"/>
              <a:pPr/>
              <a:t>20-07-2023</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8051FE-4BFC-4A72-92BA-2E691AE322A1}" type="slidenum">
              <a:rPr lang="en-IN" smtClean="0"/>
              <a:pPr/>
              <a:t>‹#›</a:t>
            </a:fld>
            <a:endParaRPr lang="en-IN"/>
          </a:p>
        </p:txBody>
      </p:sp>
    </p:spTree>
    <p:extLst>
      <p:ext uri="{BB962C8B-B14F-4D97-AF65-F5344CB8AC3E}">
        <p14:creationId xmlns:p14="http://schemas.microsoft.com/office/powerpoint/2010/main" val="3191728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19" name="Footer Placeholder 18"/>
          <p:cNvSpPr>
            <a:spLocks noGrp="1"/>
          </p:cNvSpPr>
          <p:nvPr>
            <p:ph type="ftr" sz="quarter" idx="11"/>
          </p:nvPr>
        </p:nvSpPr>
        <p:spPr/>
        <p:txBody>
          <a:bodyPr/>
          <a:lstStyle/>
          <a:p>
            <a:endParaRPr lang="en-IN" dirty="0"/>
          </a:p>
        </p:txBody>
      </p:sp>
      <p:sp>
        <p:nvSpPr>
          <p:cNvPr id="27" name="Slide Number Placeholder 26"/>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a:xfrm>
            <a:off x="10769600" y="6356351"/>
            <a:ext cx="812800" cy="365125"/>
          </a:xfrm>
        </p:spPr>
        <p:txBody>
          <a:bodyPr/>
          <a:lstStyle/>
          <a:p>
            <a:fld id="{39BCFC76-05EA-43D6-B30C-B0BADD210614}" type="slidenum">
              <a:rPr lang="en-IN" smtClean="0"/>
              <a:pPr/>
              <a:t>‹#›</a:t>
            </a:fld>
            <a:endParaRPr lang="en-IN" dirty="0"/>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93BE31A-3CFF-4EDF-AC79-1DE860BD28E4}" type="datetimeFigureOut">
              <a:rPr lang="en-IN" smtClean="0"/>
              <a:pPr/>
              <a:t>20-07-2023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BCFC76-05EA-43D6-B30C-B0BADD210614}"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93BE31A-3CFF-4EDF-AC79-1DE860BD28E4}" type="datetimeFigureOut">
              <a:rPr lang="en-IN" smtClean="0"/>
              <a:pPr/>
              <a:t>20-07-2023</a:t>
            </a:fld>
            <a:endParaRPr lang="en-IN" dirty="0"/>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dirty="0"/>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BCFC76-05EA-43D6-B30C-B0BADD210614}" type="slidenum">
              <a:rPr lang="en-IN" smtClean="0"/>
              <a:pPr/>
              <a:t>‹#›</a:t>
            </a:fld>
            <a:endParaRPr lang="en-IN" dirty="0"/>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4192" r:id="rId1"/>
    <p:sldLayoutId id="2147484193" r:id="rId2"/>
    <p:sldLayoutId id="2147484194" r:id="rId3"/>
    <p:sldLayoutId id="2147484195" r:id="rId4"/>
    <p:sldLayoutId id="2147484196" r:id="rId5"/>
    <p:sldLayoutId id="2147484197" r:id="rId6"/>
    <p:sldLayoutId id="2147484198" r:id="rId7"/>
    <p:sldLayoutId id="2147484199" r:id="rId8"/>
    <p:sldLayoutId id="2147484200" r:id="rId9"/>
    <p:sldLayoutId id="2147484201" r:id="rId10"/>
    <p:sldLayoutId id="2147484202"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6917" y="0"/>
            <a:ext cx="9768115" cy="2409371"/>
          </a:xfrm>
        </p:spPr>
        <p:txBody>
          <a:bodyPr>
            <a:normAutofit fontScale="90000"/>
          </a:bodyPr>
          <a:lstStyle/>
          <a:p>
            <a:pPr algn="ctr"/>
            <a:r>
              <a:rPr lang="en-US" dirty="0">
                <a:latin typeface="Times New Roman" pitchFamily="18" charset="0"/>
                <a:cs typeface="Times New Roman" pitchFamily="18" charset="0"/>
              </a:rPr>
              <a:t>     </a:t>
            </a:r>
            <a:r>
              <a:rPr lang="en-US" sz="4400" b="1" dirty="0">
                <a:solidFill>
                  <a:schemeClr val="tx1"/>
                </a:solidFill>
                <a:latin typeface="Times New Roman" pitchFamily="18" charset="0"/>
                <a:cs typeface="Times New Roman" pitchFamily="18" charset="0"/>
              </a:rPr>
              <a:t>VIJAYA VITTALA INSTITUTE OF TECHNOLOGY</a:t>
            </a:r>
            <a:br>
              <a:rPr lang="en-IN" dirty="0">
                <a:latin typeface="Times New Roman" pitchFamily="18" charset="0"/>
                <a:cs typeface="Times New Roman" pitchFamily="18" charset="0"/>
              </a:rPr>
            </a:br>
            <a:r>
              <a:rPr lang="en-IN" sz="2800" dirty="0">
                <a:solidFill>
                  <a:schemeClr val="tx1"/>
                </a:solidFill>
                <a:latin typeface="Times New Roman" pitchFamily="18" charset="0"/>
                <a:cs typeface="Times New Roman" pitchFamily="18" charset="0"/>
              </a:rPr>
              <a:t>Mini Project</a:t>
            </a:r>
            <a:br>
              <a:rPr lang="en-IN" sz="2800" dirty="0">
                <a:solidFill>
                  <a:schemeClr val="tx1"/>
                </a:solidFill>
                <a:latin typeface="Times New Roman" pitchFamily="18" charset="0"/>
                <a:cs typeface="Times New Roman" pitchFamily="18" charset="0"/>
              </a:rPr>
            </a:br>
            <a:r>
              <a:rPr lang="en-IN" sz="2800" dirty="0">
                <a:solidFill>
                  <a:schemeClr val="tx1"/>
                </a:solidFill>
                <a:latin typeface="Times New Roman" pitchFamily="18" charset="0"/>
                <a:cs typeface="Times New Roman" pitchFamily="18" charset="0"/>
              </a:rPr>
              <a:t>Presentation</a:t>
            </a:r>
            <a:br>
              <a:rPr lang="en-IN" sz="2800" dirty="0">
                <a:solidFill>
                  <a:schemeClr val="tx1"/>
                </a:solidFill>
                <a:latin typeface="Times New Roman" pitchFamily="18" charset="0"/>
                <a:cs typeface="Times New Roman" pitchFamily="18" charset="0"/>
              </a:rPr>
            </a:br>
            <a:r>
              <a:rPr lang="en-IN" sz="2800" dirty="0">
                <a:solidFill>
                  <a:schemeClr val="tx1"/>
                </a:solidFill>
                <a:latin typeface="Times New Roman" pitchFamily="18" charset="0"/>
                <a:cs typeface="Times New Roman" pitchFamily="18" charset="0"/>
              </a:rPr>
              <a:t>on</a:t>
            </a:r>
            <a:endParaRPr lang="en-IN"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 y="2481944"/>
            <a:ext cx="12192005" cy="4292356"/>
          </a:xfrm>
        </p:spPr>
        <p:txBody>
          <a:bodyPr>
            <a:normAutofit fontScale="25000" lnSpcReduction="20000"/>
          </a:bodyPr>
          <a:lstStyle/>
          <a:p>
            <a:pPr marL="0" indent="0" algn="ctr">
              <a:buNone/>
            </a:pPr>
            <a:r>
              <a:rPr lang="en-US" sz="11200" b="1" dirty="0">
                <a:solidFill>
                  <a:srgbClr val="FF0000"/>
                </a:solidFill>
                <a:latin typeface="Times New Roman" pitchFamily="18" charset="0"/>
                <a:cs typeface="Times New Roman" pitchFamily="18" charset="0"/>
              </a:rPr>
              <a:t>EXPERIMENTAL STUDY ON “AUTOMATIC TRAFFIC LIGHT CONTOLLER FOR EMERGENCY VEHICLE ” </a:t>
            </a:r>
            <a:endParaRPr lang="en-IN" sz="11200" b="1" dirty="0">
              <a:solidFill>
                <a:srgbClr val="FF0000"/>
              </a:solidFill>
              <a:latin typeface="Times New Roman" pitchFamily="18" charset="0"/>
              <a:cs typeface="Times New Roman" pitchFamily="18" charset="0"/>
            </a:endParaRPr>
          </a:p>
          <a:p>
            <a:pPr marL="0" indent="0" algn="ctr">
              <a:buNone/>
            </a:pPr>
            <a:endParaRPr lang="en-IN" sz="11200" b="1" dirty="0">
              <a:solidFill>
                <a:srgbClr val="FF0000"/>
              </a:solidFill>
              <a:latin typeface="Times New Roman" pitchFamily="18" charset="0"/>
              <a:cs typeface="Times New Roman" pitchFamily="18" charset="0"/>
            </a:endParaRPr>
          </a:p>
          <a:p>
            <a:pPr marL="0" indent="0">
              <a:buNone/>
            </a:pPr>
            <a:r>
              <a:rPr lang="en-IN" sz="8000" b="1" dirty="0">
                <a:latin typeface="Times New Roman" panose="02020603050405020304" pitchFamily="18" charset="0"/>
                <a:cs typeface="Times New Roman" panose="02020603050405020304" pitchFamily="18" charset="0"/>
              </a:rPr>
              <a:t>   UNDER THE GUIDANCE  OF:                                                                               PRESENTED BY:-                  </a:t>
            </a:r>
          </a:p>
          <a:p>
            <a:pPr marL="0" indent="0">
              <a:buNone/>
            </a:pPr>
            <a:r>
              <a:rPr lang="en-IN" sz="8000" b="1" dirty="0">
                <a:latin typeface="Times New Roman" panose="02020603050405020304" pitchFamily="18" charset="0"/>
                <a:cs typeface="Times New Roman" panose="02020603050405020304" pitchFamily="18" charset="0"/>
              </a:rPr>
              <a:t>            Mrs. Ashwini M A</a:t>
            </a:r>
            <a:r>
              <a:rPr lang="en-IN" sz="8000" dirty="0">
                <a:latin typeface="Times New Roman" panose="02020603050405020304" pitchFamily="18" charset="0"/>
                <a:cs typeface="Times New Roman" panose="02020603050405020304" pitchFamily="18" charset="0"/>
              </a:rPr>
              <a:t>                                                               ALI AKBAR K                          (1VJ20EC001) </a:t>
            </a:r>
          </a:p>
          <a:p>
            <a:pPr marL="0" indent="0">
              <a:buNone/>
            </a:pPr>
            <a:r>
              <a:rPr lang="en-IN" sz="8000" dirty="0">
                <a:latin typeface="Times New Roman" panose="02020603050405020304" pitchFamily="18" charset="0"/>
                <a:cs typeface="Times New Roman" panose="02020603050405020304" pitchFamily="18" charset="0"/>
              </a:rPr>
              <a:t>                Asst. Prof.                                                                         GOKUL KRISHNAN R             (1VJ20EC004)</a:t>
            </a:r>
          </a:p>
          <a:p>
            <a:pPr marL="0" indent="0">
              <a:buNone/>
            </a:pPr>
            <a:r>
              <a:rPr lang="en-IN" sz="8000" dirty="0">
                <a:latin typeface="Times New Roman" panose="02020603050405020304" pitchFamily="18" charset="0"/>
                <a:cs typeface="Times New Roman" panose="02020603050405020304" pitchFamily="18" charset="0"/>
              </a:rPr>
              <a:t>        ECE </a:t>
            </a:r>
            <a:r>
              <a:rPr lang="en-IN" sz="8000" dirty="0" err="1">
                <a:latin typeface="Times New Roman" panose="02020603050405020304" pitchFamily="18" charset="0"/>
                <a:cs typeface="Times New Roman" panose="02020603050405020304" pitchFamily="18" charset="0"/>
              </a:rPr>
              <a:t>Department,VVIT</a:t>
            </a:r>
            <a:r>
              <a:rPr lang="en-IN" sz="8000" dirty="0">
                <a:latin typeface="Times New Roman" panose="02020603050405020304" pitchFamily="18" charset="0"/>
                <a:cs typeface="Times New Roman" panose="02020603050405020304" pitchFamily="18" charset="0"/>
              </a:rPr>
              <a:t>                                                            SIDDHARTH P                          (1VJ20EC010)                             </a:t>
            </a:r>
          </a:p>
          <a:p>
            <a:pPr marL="0" indent="0">
              <a:buNone/>
            </a:pPr>
            <a:r>
              <a:rPr lang="en-IN" sz="8000" dirty="0">
                <a:latin typeface="Times New Roman" panose="02020603050405020304" pitchFamily="18" charset="0"/>
                <a:cs typeface="Times New Roman" panose="02020603050405020304" pitchFamily="18" charset="0"/>
              </a:rPr>
              <a:t>                                                                                                          SAHADEV AMBANNAGOL   (1VJ21EC400)</a:t>
            </a:r>
          </a:p>
          <a:p>
            <a:pPr marL="0" indent="0">
              <a:buNone/>
            </a:pPr>
            <a:r>
              <a:rPr lang="en-IN" sz="8000" dirty="0">
                <a:latin typeface="Times New Roman" panose="02020603050405020304" pitchFamily="18" charset="0"/>
                <a:cs typeface="Times New Roman" panose="02020603050405020304" pitchFamily="18" charset="0"/>
              </a:rPr>
              <a:t>                                                                                                       </a:t>
            </a:r>
            <a:endParaRPr lang="en-IN" sz="5600" dirty="0">
              <a:latin typeface="Times New Roman" panose="02020603050405020304" pitchFamily="18" charset="0"/>
              <a:cs typeface="Times New Roman" panose="02020603050405020304" pitchFamily="18" charset="0"/>
            </a:endParaRPr>
          </a:p>
          <a:p>
            <a:pPr marL="0" indent="0">
              <a:buNone/>
            </a:pPr>
            <a:r>
              <a:rPr lang="en-IN" sz="5600"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a:t>
            </a:r>
          </a:p>
        </p:txBody>
      </p:sp>
      <p:pic>
        <p:nvPicPr>
          <p:cNvPr id="4" name="Picture 3"/>
          <p:cNvPicPr>
            <a:picLocks noChangeAspect="1"/>
          </p:cNvPicPr>
          <p:nvPr/>
        </p:nvPicPr>
        <p:blipFill>
          <a:blip r:embed="rId2" cstate="print"/>
          <a:stretch>
            <a:fillRect/>
          </a:stretch>
        </p:blipFill>
        <p:spPr>
          <a:xfrm>
            <a:off x="449904" y="478419"/>
            <a:ext cx="1438781" cy="1274174"/>
          </a:xfrm>
          <a:prstGeom prst="rect">
            <a:avLst/>
          </a:prstGeom>
        </p:spPr>
      </p:pic>
    </p:spTree>
    <p:extLst>
      <p:ext uri="{BB962C8B-B14F-4D97-AF65-F5344CB8AC3E}">
        <p14:creationId xmlns:p14="http://schemas.microsoft.com/office/powerpoint/2010/main" val="3812985334"/>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3"/>
            <a:ext cx="8596668" cy="769033"/>
          </a:xfrm>
        </p:spPr>
        <p:txBody>
          <a:bodyPr>
            <a:normAutofit fontScale="90000"/>
          </a:bodyPr>
          <a:lstStyle/>
          <a:p>
            <a:pPr algn="ctr"/>
            <a:r>
              <a:rPr lang="en-US" b="1" dirty="0">
                <a:solidFill>
                  <a:schemeClr val="tx1"/>
                </a:solidFill>
                <a:latin typeface="Times New Roman" panose="02020603050405020304" pitchFamily="18" charset="0"/>
                <a:cs typeface="Times New Roman" panose="02020603050405020304" pitchFamily="18" charset="0"/>
              </a:rPr>
              <a:t>           CONTENT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5" y="1378633"/>
            <a:ext cx="8596668" cy="5279342"/>
          </a:xfrm>
        </p:spPr>
        <p:txBody>
          <a:bodyPr>
            <a:no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Objective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Components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Results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Conclusion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297645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 y="300252"/>
            <a:ext cx="12191999" cy="1023582"/>
          </a:xfrm>
        </p:spPr>
        <p:txBody>
          <a:bodyPr/>
          <a:lstStyle/>
          <a:p>
            <a:pPr algn="ctr"/>
            <a:r>
              <a:rPr lang="en-IN" b="1" dirty="0">
                <a:solidFill>
                  <a:schemeClr val="tx1"/>
                </a:solidFill>
                <a:latin typeface="Times New Roman" pitchFamily="18" charset="0"/>
                <a:cs typeface="Times New Roman" pitchFamily="18" charset="0"/>
              </a:rPr>
              <a:t>INTRODUCTION</a:t>
            </a:r>
          </a:p>
        </p:txBody>
      </p:sp>
      <p:sp>
        <p:nvSpPr>
          <p:cNvPr id="3" name="Content Placeholder 2"/>
          <p:cNvSpPr>
            <a:spLocks noGrp="1"/>
          </p:cNvSpPr>
          <p:nvPr>
            <p:ph idx="1"/>
          </p:nvPr>
        </p:nvSpPr>
        <p:spPr>
          <a:xfrm>
            <a:off x="0" y="1409702"/>
            <a:ext cx="12192000" cy="5252356"/>
          </a:xfrm>
        </p:spPr>
        <p:txBody>
          <a:bodyPr>
            <a:normAutofit fontScale="85000" lnSpcReduction="10000"/>
          </a:bodyPr>
          <a:lstStyle/>
          <a:p>
            <a:pPr marL="64135" marR="64135" indent="0" algn="just">
              <a:lnSpc>
                <a:spcPct val="150000"/>
              </a:lnSpc>
              <a:spcBef>
                <a:spcPts val="5"/>
              </a:spcBef>
              <a:spcAft>
                <a:spcPts val="0"/>
              </a:spcAft>
              <a:buNone/>
            </a:pPr>
            <a:r>
              <a:rPr lang="en-IN" sz="4000" b="1" dirty="0">
                <a:latin typeface="Times New Roman" pitchFamily="18" charset="0"/>
                <a:cs typeface="Times New Roman" pitchFamily="18" charset="0"/>
              </a:rPr>
              <a:t>          </a:t>
            </a:r>
            <a:r>
              <a:rPr lang="en-US" dirty="0">
                <a:effectLst/>
                <a:latin typeface="Times New Roman" panose="02020603050405020304" pitchFamily="18" charset="0"/>
                <a:ea typeface="Times New Roman" panose="02020603050405020304" pitchFamily="18" charset="0"/>
              </a:rPr>
              <a:t>Traffic Congestion is a serious issue in many densely populated cities. Especially during the passage of emergency vehicles in such congestions. This work mainly aims on providing a solution for the emergency faced by the ambulance during such traffic blocking. The implementation needs the usage of sound sensors and monitoring the ambulance to pass traffic signal lanes using Arduino. Fire disaster management prevention can also be the further application of sound detecting sensors.</a:t>
            </a:r>
          </a:p>
          <a:p>
            <a:pPr marL="64135" marR="64135" indent="0" algn="just">
              <a:lnSpc>
                <a:spcPct val="150000"/>
              </a:lnSpc>
              <a:spcBef>
                <a:spcPts val="5"/>
              </a:spcBef>
              <a:spcAft>
                <a:spcPts val="0"/>
              </a:spcAft>
              <a:buNone/>
            </a:pPr>
            <a:endParaRPr lang="en-IN" dirty="0">
              <a:latin typeface="Times New Roman" panose="02020603050405020304" pitchFamily="18" charset="0"/>
              <a:ea typeface="Times New Roman" panose="02020603050405020304" pitchFamily="18" charset="0"/>
            </a:endParaRPr>
          </a:p>
          <a:p>
            <a:pPr marL="64135" marR="64135" indent="0" algn="just">
              <a:lnSpc>
                <a:spcPct val="150000"/>
              </a:lnSpc>
              <a:spcBef>
                <a:spcPts val="5"/>
              </a:spcBef>
              <a:spcAft>
                <a:spcPts val="0"/>
              </a:spcAft>
              <a:buNone/>
            </a:pPr>
            <a:r>
              <a:rPr lang="en-US" dirty="0">
                <a:effectLst/>
                <a:latin typeface="Times New Roman" panose="02020603050405020304" pitchFamily="18" charset="0"/>
                <a:ea typeface="Times New Roman" panose="02020603050405020304" pitchFamily="18" charset="0"/>
              </a:rPr>
              <a:t>Index Terms - sound detector, sensors, traffic congestion.</a:t>
            </a:r>
            <a:endParaRPr lang="en-IN" dirty="0">
              <a:effectLst/>
              <a:latin typeface="Times New Roman" panose="02020603050405020304" pitchFamily="18" charset="0"/>
              <a:ea typeface="Times New Roman" panose="02020603050405020304" pitchFamily="18" charset="0"/>
            </a:endParaRPr>
          </a:p>
          <a:p>
            <a:pPr marL="0" indent="0" algn="just">
              <a:lnSpc>
                <a:spcPct val="120000"/>
              </a:lnSpc>
              <a:buNone/>
            </a:pPr>
            <a:endParaRPr lang="en-US" sz="4000" dirty="0">
              <a:latin typeface="Times New Roman" pitchFamily="18" charset="0"/>
              <a:cs typeface="Times New Roman" pitchFamily="18" charset="0"/>
            </a:endParaRPr>
          </a:p>
          <a:p>
            <a:pPr marL="0" indent="0" algn="just">
              <a:lnSpc>
                <a:spcPct val="120000"/>
              </a:lnSpc>
              <a:buNone/>
            </a:pPr>
            <a:r>
              <a:rPr lang="en-IN" sz="3300" dirty="0">
                <a:latin typeface="Times New Roman" pitchFamily="18" charset="0"/>
                <a:cs typeface="Times New Roman" pitchFamily="18" charset="0"/>
              </a:rPr>
              <a:t> </a:t>
            </a:r>
            <a:endParaRPr lang="en-US" sz="3300"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69591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1"/>
            <a:ext cx="8596668" cy="218941"/>
          </a:xfrm>
        </p:spPr>
        <p:txBody>
          <a:bodyPr>
            <a:normAutofit fontScale="90000"/>
          </a:bodyPr>
          <a:lstStyle/>
          <a:p>
            <a:r>
              <a:rPr lang="en-IN" dirty="0"/>
              <a:t>.</a:t>
            </a:r>
          </a:p>
        </p:txBody>
      </p:sp>
      <p:sp>
        <p:nvSpPr>
          <p:cNvPr id="3" name="Content Placeholder 2"/>
          <p:cNvSpPr>
            <a:spLocks noGrp="1"/>
          </p:cNvSpPr>
          <p:nvPr>
            <p:ph idx="1"/>
          </p:nvPr>
        </p:nvSpPr>
        <p:spPr>
          <a:xfrm>
            <a:off x="272956" y="750627"/>
            <a:ext cx="11573301" cy="5909480"/>
          </a:xfrm>
        </p:spPr>
        <p:txBody>
          <a:bodyPr>
            <a:normAutofit/>
          </a:bodyPr>
          <a:lstStyle/>
          <a:p>
            <a:pPr algn="just">
              <a:lnSpc>
                <a:spcPct val="150000"/>
              </a:lnSpc>
              <a:buNone/>
            </a:pPr>
            <a:r>
              <a:rPr lang="en-US" sz="2400" b="1" dirty="0">
                <a:solidFill>
                  <a:srgbClr val="FF0000"/>
                </a:solidFill>
                <a:latin typeface="Times New Roman" pitchFamily="18" charset="0"/>
                <a:cs typeface="Times New Roman" pitchFamily="18" charset="0"/>
              </a:rPr>
              <a:t>AUTOMATIC TRAFFIC LIGHT CONTOLLER FOR EMERGENCY VEHICLE </a:t>
            </a:r>
            <a:r>
              <a:rPr lang="en-US" sz="3600" b="1" dirty="0">
                <a:latin typeface="Times New Roman" pitchFamily="18" charset="0"/>
                <a:cs typeface="Times New Roman" pitchFamily="18" charset="0"/>
              </a:rPr>
              <a:t> </a:t>
            </a: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228600" marR="455930" indent="456565" algn="just">
              <a:lnSpc>
                <a:spcPct val="150000"/>
              </a:lnSpc>
              <a:spcAft>
                <a:spcPts val="0"/>
              </a:spcAft>
            </a:pPr>
            <a:r>
              <a:rPr lang="en-US" sz="2000" dirty="0">
                <a:effectLst/>
                <a:latin typeface="Times New Roman" panose="02020603050405020304" pitchFamily="18" charset="0"/>
                <a:ea typeface="Times New Roman" panose="02020603050405020304" pitchFamily="18" charset="0"/>
              </a:rPr>
              <a:t>As the population of the modern cities is increasing, the vehicular travel is also increasing</a:t>
            </a:r>
            <a:r>
              <a:rPr lang="en-US" sz="2000" spc="-28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leading to congestion on roads. The average number of vehicles in India is growing at the rate of</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10.16% annually, over the last few years. Spending hours in traffic jam has become part and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parcel</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metropolitan life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style.</a:t>
            </a:r>
            <a:endParaRPr lang="en-IN" sz="2000" dirty="0">
              <a:effectLst/>
              <a:latin typeface="Times New Roman" panose="02020603050405020304" pitchFamily="18" charset="0"/>
              <a:ea typeface="Times New Roman" panose="02020603050405020304" pitchFamily="18" charset="0"/>
            </a:endParaRPr>
          </a:p>
          <a:p>
            <a:pPr marL="228600" marR="456565" indent="456565" algn="just">
              <a:lnSpc>
                <a:spcPct val="150000"/>
              </a:lnSpc>
              <a:spcBef>
                <a:spcPts val="995"/>
              </a:spcBef>
              <a:spcAft>
                <a:spcPts val="0"/>
              </a:spcAft>
            </a:pPr>
            <a:r>
              <a:rPr lang="en-US" sz="2000" dirty="0">
                <a:effectLst/>
                <a:latin typeface="Times New Roman" panose="02020603050405020304" pitchFamily="18" charset="0"/>
                <a:ea typeface="Times New Roman" panose="02020603050405020304" pitchFamily="18" charset="0"/>
              </a:rPr>
              <a:t>The traditional method for traffic control uses fixed traffic poles on the left side of 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road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 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traffic junctions that display</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 traffic</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light.</a:t>
            </a:r>
            <a:endParaRPr lang="en-IN" sz="2000" dirty="0">
              <a:effectLst/>
              <a:latin typeface="Times New Roman" panose="02020603050405020304" pitchFamily="18" charset="0"/>
              <a:ea typeface="Times New Roman" panose="02020603050405020304" pitchFamily="18" charset="0"/>
            </a:endParaRPr>
          </a:p>
          <a:p>
            <a:pPr marL="228600" marR="458470" indent="456565" algn="just">
              <a:lnSpc>
                <a:spcPct val="150000"/>
              </a:lnSpc>
              <a:spcBef>
                <a:spcPts val="985"/>
              </a:spcBef>
              <a:spcAft>
                <a:spcPts val="0"/>
              </a:spcAft>
            </a:pPr>
            <a:r>
              <a:rPr lang="en-US" sz="2000" dirty="0">
                <a:effectLst/>
                <a:latin typeface="Times New Roman" panose="02020603050405020304" pitchFamily="18" charset="0"/>
                <a:ea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steady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increase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number</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automobiles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road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has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amplified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importance of managing traffic flow efficiently to optimize utilization of existing road capacity.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Presently major cities are covered under the surveillance of CCTV camera so that the vehicles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and</a:t>
            </a:r>
            <a:r>
              <a:rPr lang="en-US" sz="2000" spc="29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humans are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tracked.</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14389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5"/>
            <a:ext cx="8596668" cy="837063"/>
          </a:xfrm>
        </p:spPr>
        <p:txBody>
          <a:bodyPr/>
          <a:lstStyle/>
          <a:p>
            <a:pPr algn="ctr"/>
            <a:r>
              <a:rPr lang="en-IN" b="1" dirty="0">
                <a:solidFill>
                  <a:schemeClr val="tx1"/>
                </a:solidFill>
                <a:latin typeface="Times New Roman" pitchFamily="18" charset="0"/>
                <a:cs typeface="Times New Roman" pitchFamily="18" charset="0"/>
              </a:rPr>
              <a:t>         OBJECTIVES</a:t>
            </a:r>
            <a:endParaRPr lang="en-US" b="1" dirty="0">
              <a:solidFill>
                <a:schemeClr val="tx1"/>
              </a:solidFill>
            </a:endParaRPr>
          </a:p>
        </p:txBody>
      </p:sp>
      <p:sp>
        <p:nvSpPr>
          <p:cNvPr id="3" name="Content Placeholder 2"/>
          <p:cNvSpPr>
            <a:spLocks noGrp="1"/>
          </p:cNvSpPr>
          <p:nvPr>
            <p:ph idx="1"/>
          </p:nvPr>
        </p:nvSpPr>
        <p:spPr>
          <a:xfrm>
            <a:off x="1" y="1482437"/>
            <a:ext cx="11286699" cy="5177670"/>
          </a:xfrm>
        </p:spPr>
        <p:txBody>
          <a:bodyPr>
            <a:normAutofit/>
          </a:bodyPr>
          <a:lstStyle/>
          <a:p>
            <a:pPr marL="1257300" marR="461010" lvl="2" indent="-342900">
              <a:lnSpc>
                <a:spcPct val="150000"/>
              </a:lnSpc>
              <a:spcBef>
                <a:spcPts val="5"/>
              </a:spcBef>
              <a:buSzPts val="1200"/>
              <a:buFont typeface="Wingdings" panose="05000000000000000000" pitchFamily="2" charset="2"/>
              <a:buChar char="q"/>
              <a:tabLst>
                <a:tab pos="686435"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Our</a:t>
            </a:r>
            <a:r>
              <a:rPr lang="en-US" sz="2400" spc="16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proposed</a:t>
            </a:r>
            <a:r>
              <a:rPr lang="en-US" sz="2400" spc="17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plan</a:t>
            </a:r>
            <a:r>
              <a:rPr lang="en-US" sz="2400" spc="18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with</a:t>
            </a:r>
            <a:r>
              <a:rPr lang="en-US" sz="2400" spc="18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this</a:t>
            </a:r>
            <a:r>
              <a:rPr lang="en-US" sz="2400" spc="17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application</a:t>
            </a:r>
            <a:r>
              <a:rPr lang="en-US" sz="2400" spc="17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is</a:t>
            </a:r>
            <a:r>
              <a:rPr lang="en-US" sz="2400" spc="18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expected</a:t>
            </a:r>
            <a:r>
              <a:rPr lang="en-US" sz="2400" spc="17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to</a:t>
            </a:r>
            <a:r>
              <a:rPr lang="en-US" sz="2400" spc="18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go</a:t>
            </a:r>
            <a:r>
              <a:rPr lang="en-US" sz="2400" spc="18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a:t>
            </a:r>
            <a:r>
              <a:rPr lang="en-US" sz="2400" spc="17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long</a:t>
            </a:r>
            <a:r>
              <a:rPr lang="en-US" sz="2400" spc="16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way</a:t>
            </a:r>
            <a:r>
              <a:rPr lang="en-US" sz="2400" spc="15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in</a:t>
            </a:r>
            <a:r>
              <a:rPr lang="en-US" sz="2400" spc="17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reducing</a:t>
            </a:r>
            <a:r>
              <a:rPr lang="en-US" sz="2400" spc="16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28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number</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 accidents.</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1257300" marR="459105" lvl="2" indent="-342900">
              <a:lnSpc>
                <a:spcPct val="150000"/>
              </a:lnSpc>
              <a:buSzPts val="1200"/>
              <a:buFont typeface="Wingdings" panose="05000000000000000000" pitchFamily="2" charset="2"/>
              <a:buChar char="q"/>
              <a:tabLst>
                <a:tab pos="686435" algn="l"/>
              </a:tabLst>
            </a:pPr>
            <a:r>
              <a:rPr lang="en-US" sz="2000" dirty="0"/>
              <a:t>Keeping the application always active can be more advantageous for tracking the movements of ambulance vehicles in traffic</a:t>
            </a:r>
          </a:p>
          <a:p>
            <a:pPr marL="1257300" marR="459105" lvl="2" indent="-342900">
              <a:lnSpc>
                <a:spcPct val="150000"/>
              </a:lnSpc>
              <a:buSzPts val="1200"/>
              <a:buFont typeface="Wingdings" panose="05000000000000000000" pitchFamily="2" charset="2"/>
              <a:buChar char="q"/>
              <a:tabLst>
                <a:tab pos="686435" algn="l"/>
              </a:tabLst>
            </a:pPr>
            <a:r>
              <a:rPr lang="en-US" sz="2000" dirty="0"/>
              <a:t>Once an emergency vehicle is detected, the controller initiates a series of actions to optimize traffic flow.</a:t>
            </a:r>
          </a:p>
          <a:p>
            <a:pPr marL="1257300" marR="459105" lvl="2" indent="-342900">
              <a:lnSpc>
                <a:spcPct val="150000"/>
              </a:lnSpc>
              <a:buSzPts val="1200"/>
              <a:buFont typeface="Wingdings" panose="05000000000000000000" pitchFamily="2" charset="2"/>
              <a:buChar char="q"/>
              <a:tabLst>
                <a:tab pos="686435" algn="l"/>
              </a:tabLst>
            </a:pPr>
            <a:r>
              <a:rPr lang="en-US" sz="2000" dirty="0"/>
              <a:t>It includes preemptively changing the traffic signal to green for the approaching emergency vehicle's direction, clearing the intersection of cross-traffic, and coordinating the signals at adjacent intersections to create a clear path.</a:t>
            </a:r>
            <a:endParaRPr lang="en-US" sz="2800" dirty="0"/>
          </a:p>
        </p:txBody>
      </p:sp>
    </p:spTree>
    <p:extLst>
      <p:ext uri="{BB962C8B-B14F-4D97-AF65-F5344CB8AC3E}">
        <p14:creationId xmlns:p14="http://schemas.microsoft.com/office/powerpoint/2010/main" val="3048310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578802"/>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METHOLOGY</a:t>
            </a:r>
          </a:p>
        </p:txBody>
      </p:sp>
      <p:pic>
        <p:nvPicPr>
          <p:cNvPr id="8" name="Content Placeholder 7">
            <a:extLst>
              <a:ext uri="{FF2B5EF4-FFF2-40B4-BE49-F238E27FC236}">
                <a16:creationId xmlns:a16="http://schemas.microsoft.com/office/drawing/2014/main" id="{4FC79FAE-A6F9-464C-A033-C24515A20DF4}"/>
              </a:ext>
            </a:extLst>
          </p:cNvPr>
          <p:cNvPicPr>
            <a:picLocks noGrp="1" noChangeAspect="1"/>
          </p:cNvPicPr>
          <p:nvPr>
            <p:ph idx="1"/>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3303830" y="1354138"/>
            <a:ext cx="5584339" cy="4389437"/>
          </a:xfrm>
        </p:spPr>
      </p:pic>
    </p:spTree>
    <p:extLst>
      <p:ext uri="{BB962C8B-B14F-4D97-AF65-F5344CB8AC3E}">
        <p14:creationId xmlns:p14="http://schemas.microsoft.com/office/powerpoint/2010/main" val="737710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 y="4552949"/>
            <a:ext cx="12191999" cy="1898653"/>
          </a:xfrm>
        </p:spPr>
        <p:txBody>
          <a:bodyPr>
            <a:normAutofit/>
          </a:bodyPr>
          <a:lstStyle/>
          <a:p>
            <a:pPr algn="ctr"/>
            <a:r>
              <a:rPr lang="en-US" sz="1000" b="1" dirty="0">
                <a:solidFill>
                  <a:schemeClr val="tx1"/>
                </a:solidFill>
                <a:latin typeface="Times New Roman" pitchFamily="18" charset="0"/>
                <a:cs typeface="Times New Roman" pitchFamily="18" charset="0"/>
              </a:rPr>
              <a:t>;</a:t>
            </a:r>
            <a:endParaRPr lang="en-IN" sz="28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677345" y="5924550"/>
            <a:ext cx="11514649" cy="384810"/>
          </a:xfrm>
        </p:spPr>
        <p:txBody>
          <a:bodyPr>
            <a:normAutofit fontScale="92500" lnSpcReduction="20000"/>
          </a:bodyPr>
          <a:lstStyle/>
          <a:p>
            <a:pPr>
              <a:buNone/>
            </a:pPr>
            <a:r>
              <a:rPr lang="en-IN" sz="2400" b="1" dirty="0"/>
              <a:t>                                          Fig : SPEECH RECOGNITION BOARD</a:t>
            </a:r>
            <a:endParaRPr lang="en-IN" sz="2400" b="1" dirty="0">
              <a:solidFill>
                <a:schemeClr val="tx1"/>
              </a:solidFill>
              <a:latin typeface="Times New Roman" pitchFamily="18" charset="0"/>
              <a:cs typeface="Times New Roman" pitchFamily="18" charset="0"/>
            </a:endParaRPr>
          </a:p>
          <a:p>
            <a:pPr>
              <a:buFont typeface="Wingdings" pitchFamily="2" charset="2"/>
              <a:buChar char="Ø"/>
            </a:pPr>
            <a:endParaRPr lang="en-IN" dirty="0">
              <a:solidFill>
                <a:schemeClr val="accent1"/>
              </a:solidFill>
              <a:latin typeface="Times New Roman" pitchFamily="18" charset="0"/>
              <a:cs typeface="Times New Roman" pitchFamily="18" charset="0"/>
            </a:endParaRPr>
          </a:p>
          <a:p>
            <a:pPr>
              <a:buFont typeface="Wingdings" pitchFamily="2" charset="2"/>
              <a:buChar char="Ø"/>
            </a:pPr>
            <a:endParaRPr lang="en-IN" dirty="0"/>
          </a:p>
        </p:txBody>
      </p:sp>
      <p:pic>
        <p:nvPicPr>
          <p:cNvPr id="5" name="Picture 4">
            <a:extLst>
              <a:ext uri="{FF2B5EF4-FFF2-40B4-BE49-F238E27FC236}">
                <a16:creationId xmlns:a16="http://schemas.microsoft.com/office/drawing/2014/main" id="{D5B1CD0A-3062-42AF-B9B2-8BF968667D6F}"/>
              </a:ext>
            </a:extLst>
          </p:cNvPr>
          <p:cNvPicPr>
            <a:picLocks noChangeAspect="1"/>
          </p:cNvPicPr>
          <p:nvPr/>
        </p:nvPicPr>
        <p:blipFill rotWithShape="1">
          <a:blip r:embed="rId2">
            <a:extLst>
              <a:ext uri="{28A0092B-C50C-407E-A947-70E740481C1C}">
                <a14:useLocalDpi xmlns:a14="http://schemas.microsoft.com/office/drawing/2010/main" val="0"/>
              </a:ext>
            </a:extLst>
          </a:blip>
          <a:srcRect t="2072"/>
          <a:stretch/>
        </p:blipFill>
        <p:spPr>
          <a:xfrm>
            <a:off x="3940559" y="1036320"/>
            <a:ext cx="4310882" cy="4321239"/>
          </a:xfrm>
          <a:prstGeom prst="rect">
            <a:avLst/>
          </a:prstGeom>
        </p:spPr>
      </p:pic>
    </p:spTree>
    <p:extLst>
      <p:ext uri="{BB962C8B-B14F-4D97-AF65-F5344CB8AC3E}">
        <p14:creationId xmlns:p14="http://schemas.microsoft.com/office/powerpoint/2010/main" val="3282506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0BB4D-509B-445A-BC80-629F4590B9CD}"/>
              </a:ext>
            </a:extLst>
          </p:cNvPr>
          <p:cNvSpPr>
            <a:spLocks noGrp="1"/>
          </p:cNvSpPr>
          <p:nvPr>
            <p:ph type="title"/>
          </p:nvPr>
        </p:nvSpPr>
        <p:spPr>
          <a:xfrm>
            <a:off x="609600" y="5618480"/>
            <a:ext cx="11074400" cy="782320"/>
          </a:xfrm>
        </p:spPr>
        <p:txBody>
          <a:bodyPr>
            <a:normAutofit/>
          </a:bodyPr>
          <a:lstStyle/>
          <a:p>
            <a:r>
              <a:rPr lang="en-IN" sz="2400" b="1" dirty="0">
                <a:latin typeface="Times New Roman" panose="02020603050405020304" pitchFamily="18" charset="0"/>
                <a:cs typeface="Times New Roman" panose="02020603050405020304" pitchFamily="18" charset="0"/>
              </a:rPr>
              <a:t>                                            Fig : ARDUINO UNO BOARD</a:t>
            </a:r>
            <a:br>
              <a:rPr lang="en-IN" sz="24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BC4A1D7-1050-4557-B762-C750695FB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8685" y="1056640"/>
            <a:ext cx="4788835" cy="39677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76FE6D-BDDE-4EDD-93E9-6DBBDF367AFB}"/>
              </a:ext>
            </a:extLst>
          </p:cNvPr>
          <p:cNvSpPr txBox="1"/>
          <p:nvPr/>
        </p:nvSpPr>
        <p:spPr>
          <a:xfrm>
            <a:off x="3762375" y="6276975"/>
            <a:ext cx="4905376" cy="369332"/>
          </a:xfrm>
          <a:prstGeom prst="rect">
            <a:avLst/>
          </a:prstGeom>
          <a:noFill/>
        </p:spPr>
        <p:txBody>
          <a:bodyPr wrap="square" rtlCol="0">
            <a:spAutoFit/>
          </a:bodyPr>
          <a:lstStyle/>
          <a:p>
            <a:pPr algn="just"/>
            <a:r>
              <a:rPr lang="en-US" sz="1800" b="1" dirty="0">
                <a:effectLst/>
                <a:latin typeface="Times New Roman" panose="02020603050405020304" pitchFamily="18" charset="0"/>
                <a:ea typeface="Times New Roman" panose="02020603050405020304" pitchFamily="18" charset="0"/>
              </a:rPr>
              <a:t>               </a:t>
            </a:r>
            <a:endParaRPr lang="en-IN" dirty="0"/>
          </a:p>
        </p:txBody>
      </p:sp>
      <p:sp>
        <p:nvSpPr>
          <p:cNvPr id="2" name="Title 1">
            <a:extLst>
              <a:ext uri="{FF2B5EF4-FFF2-40B4-BE49-F238E27FC236}">
                <a16:creationId xmlns:a16="http://schemas.microsoft.com/office/drawing/2014/main" id="{B8601F9D-456F-4199-B3A8-94F6EC289CC0}"/>
              </a:ext>
            </a:extLst>
          </p:cNvPr>
          <p:cNvSpPr>
            <a:spLocks noGrp="1"/>
          </p:cNvSpPr>
          <p:nvPr>
            <p:ph type="title"/>
          </p:nvPr>
        </p:nvSpPr>
        <p:spPr>
          <a:xfrm>
            <a:off x="609600" y="4744720"/>
            <a:ext cx="11074400" cy="955040"/>
          </a:xfrm>
        </p:spPr>
        <p:txBody>
          <a:bodyPr>
            <a:normAutofit/>
          </a:bodyPr>
          <a:lstStyle/>
          <a:p>
            <a:r>
              <a:rPr lang="en-IN" sz="2400" b="1" dirty="0">
                <a:latin typeface="Times New Roman" panose="02020603050405020304" pitchFamily="18" charset="0"/>
                <a:cs typeface="Times New Roman" panose="02020603050405020304" pitchFamily="18" charset="0"/>
              </a:rPr>
              <a:t>                                                      Fig : USB TO UART</a:t>
            </a:r>
          </a:p>
        </p:txBody>
      </p:sp>
      <p:pic>
        <p:nvPicPr>
          <p:cNvPr id="5" name="Picture 4">
            <a:extLst>
              <a:ext uri="{FF2B5EF4-FFF2-40B4-BE49-F238E27FC236}">
                <a16:creationId xmlns:a16="http://schemas.microsoft.com/office/drawing/2014/main" id="{AA7C7BC9-40AE-4D76-92F7-61639E48901E}"/>
              </a:ext>
            </a:extLst>
          </p:cNvPr>
          <p:cNvPicPr>
            <a:picLocks noChangeAspect="1"/>
          </p:cNvPicPr>
          <p:nvPr/>
        </p:nvPicPr>
        <p:blipFill rotWithShape="1">
          <a:blip r:embed="rId2">
            <a:extLst>
              <a:ext uri="{28A0092B-C50C-407E-A947-70E740481C1C}">
                <a14:useLocalDpi xmlns:a14="http://schemas.microsoft.com/office/drawing/2010/main" val="0"/>
              </a:ext>
            </a:extLst>
          </a:blip>
          <a:srcRect l="8785" t="-78" r="6051" b="78"/>
          <a:stretch/>
        </p:blipFill>
        <p:spPr>
          <a:xfrm>
            <a:off x="3302000" y="816768"/>
            <a:ext cx="5084494" cy="34477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800" b="1" dirty="0">
                <a:solidFill>
                  <a:schemeClr val="accent1">
                    <a:lumMod val="50000"/>
                  </a:schemeClr>
                </a:solidFill>
                <a:latin typeface="Times New Roman" panose="02020603050405020304" pitchFamily="18" charset="0"/>
                <a:cs typeface="Times New Roman" panose="02020603050405020304" pitchFamily="18" charset="0"/>
              </a:rPr>
              <a:t>WORKING OF </a:t>
            </a:r>
            <a:r>
              <a:rPr lang="en-US" sz="2800" b="1" i="0" dirty="0">
                <a:solidFill>
                  <a:schemeClr val="accent1">
                    <a:lumMod val="50000"/>
                  </a:schemeClr>
                </a:solidFill>
                <a:effectLst/>
                <a:latin typeface="Times New Roman" panose="02020603050405020304" pitchFamily="18" charset="0"/>
                <a:cs typeface="Times New Roman" panose="02020603050405020304" pitchFamily="18" charset="0"/>
              </a:rPr>
              <a:t>AUTOMATIC TRAFFIC LIGHT CONTOLLER FOR EMERGENCY VEHICLE </a:t>
            </a:r>
            <a:endParaRPr lang="en-US" sz="2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2500"/>
          </a:bodyPr>
          <a:lstStyle/>
          <a:p>
            <a:pPr marL="0" indent="0" algn="l">
              <a:buNone/>
            </a:pPr>
            <a:r>
              <a:rPr lang="en-US" b="1" i="0" dirty="0">
                <a:effectLst/>
                <a:latin typeface="Times New Roman" panose="02020603050405020304" pitchFamily="18" charset="0"/>
                <a:cs typeface="Times New Roman" panose="02020603050405020304" pitchFamily="18" charset="0"/>
              </a:rPr>
              <a:t>1. Vehicle Detection:</a:t>
            </a:r>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detection is done by sound recognition board   which help to sample the input sound signal and match the previously stored signal in board, if it is match it will detect input sound signal and sent to Arduino UNO which helps to trigger traffic light.  </a:t>
            </a:r>
          </a:p>
          <a:p>
            <a:pPr marL="0" indent="0" algn="just">
              <a:buNone/>
            </a:pPr>
            <a:r>
              <a:rPr lang="en-US" b="1" i="0" dirty="0">
                <a:effectLst/>
                <a:latin typeface="Times New Roman" panose="02020603050405020304" pitchFamily="18" charset="0"/>
                <a:cs typeface="Times New Roman" panose="02020603050405020304" pitchFamily="18" charset="0"/>
              </a:rPr>
              <a:t>2. Traffic Light Control Logic:</a:t>
            </a:r>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Develop a traffic light control algorithm that                                                                        can identify approaching emergency vehicles and give them priority while maintaining safety for emergency vehicle users. The algorithm should consider the location, speed, and direction of the emergency vehicle to determine the optimal control action.</a:t>
            </a:r>
          </a:p>
          <a:p>
            <a:pPr marL="0" indent="0" algn="l">
              <a:buNone/>
            </a:pPr>
            <a:r>
              <a:rPr lang="en-US" b="1" i="0" dirty="0">
                <a:effectLst/>
                <a:latin typeface="Times New Roman" panose="02020603050405020304" pitchFamily="18" charset="0"/>
                <a:cs typeface="Times New Roman" panose="02020603050405020304" pitchFamily="18" charset="0"/>
              </a:rPr>
              <a:t>3. Emergency Vehicle Authorization:</a:t>
            </a:r>
            <a:r>
              <a:rPr lang="en-US" b="0" i="0" dirty="0">
                <a:effectLst/>
                <a:latin typeface="Times New Roman" panose="02020603050405020304" pitchFamily="18" charset="0"/>
                <a:cs typeface="Times New Roman" panose="02020603050405020304" pitchFamily="18" charset="0"/>
              </a:rPr>
              <a:t> Ensure that only authorized emergency vehicles lead to safety hazards. Unauthorized vehicles attempting to exploit the system could activate the priority control.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55494"/>
            <a:ext cx="10972800" cy="1591594"/>
          </a:xfrm>
        </p:spPr>
        <p:txBody>
          <a:bodyPr>
            <a:normAutofit/>
          </a:bodyPr>
          <a:lstStyle/>
          <a:p>
            <a:r>
              <a:rPr lang="en-US" sz="2800" b="1" dirty="0">
                <a:latin typeface="Times New Roman" pitchFamily="18" charset="0"/>
                <a:cs typeface="Times New Roman" pitchFamily="18" charset="0"/>
              </a:rPr>
              <a:t>ADAVANTAGES </a:t>
            </a:r>
            <a:r>
              <a:rPr lang="en-US" sz="2800" b="1" dirty="0">
                <a:solidFill>
                  <a:schemeClr val="tx1"/>
                </a:solidFill>
                <a:latin typeface="Times New Roman" pitchFamily="18" charset="0"/>
                <a:cs typeface="Times New Roman" pitchFamily="18" charset="0"/>
              </a:rPr>
              <a:t>AUTOMATIC TRAFFIC LIGHT CONTOLLER FOR EMERGENCY VEHICLE </a:t>
            </a:r>
          </a:p>
        </p:txBody>
      </p:sp>
      <p:sp>
        <p:nvSpPr>
          <p:cNvPr id="3" name="Content Placeholder 2"/>
          <p:cNvSpPr>
            <a:spLocks noGrp="1"/>
          </p:cNvSpPr>
          <p:nvPr>
            <p:ph idx="1"/>
          </p:nvPr>
        </p:nvSpPr>
        <p:spPr>
          <a:xfrm>
            <a:off x="609600" y="2002155"/>
            <a:ext cx="10972800" cy="4389120"/>
          </a:xfrm>
        </p:spPr>
        <p:txBody>
          <a:bodyPr>
            <a:normAutofit/>
          </a:bodyPr>
          <a:lstStyle/>
          <a:p>
            <a:pPr marL="432000" marR="461010" lvl="2" indent="0">
              <a:lnSpc>
                <a:spcPct val="150000"/>
              </a:lnSpc>
              <a:spcBef>
                <a:spcPts val="1200"/>
              </a:spcBef>
              <a:buSzPts val="1200"/>
              <a:buNone/>
              <a:tabLst>
                <a:tab pos="686435" algn="l"/>
              </a:tabLst>
            </a:pPr>
            <a:r>
              <a:rPr lang="en-US" sz="2000" dirty="0">
                <a:latin typeface="Times New Roman" panose="02020603050405020304" pitchFamily="18" charset="0"/>
                <a:cs typeface="Times New Roman" panose="02020603050405020304" pitchFamily="18" charset="0"/>
              </a:rPr>
              <a:t>● This innovative system uses various sensors, communication devices, and advanced algorithms to detect and prioritize emergency vehicles. </a:t>
            </a:r>
          </a:p>
          <a:p>
            <a:pPr marL="432000" marR="461010" lvl="2" indent="0">
              <a:lnSpc>
                <a:spcPct val="150000"/>
              </a:lnSpc>
              <a:spcBef>
                <a:spcPts val="1200"/>
              </a:spcBef>
              <a:buSzPts val="1200"/>
              <a:buNone/>
              <a:tabLst>
                <a:tab pos="686435" algn="l"/>
              </a:tabLst>
            </a:pPr>
            <a:r>
              <a:rPr lang="en-US" sz="2000" dirty="0">
                <a:latin typeface="Times New Roman" panose="02020603050405020304" pitchFamily="18" charset="0"/>
                <a:cs typeface="Times New Roman" panose="02020603050405020304" pitchFamily="18" charset="0"/>
              </a:rPr>
              <a:t>● This ensures smooth passage through intersections and reducing the risk of emergency accidents</a:t>
            </a:r>
            <a:r>
              <a:rPr lang="en-US" sz="2000" b="0" i="0" dirty="0">
                <a:effectLst/>
                <a:latin typeface="Times New Roman" panose="02020603050405020304" pitchFamily="18" charset="0"/>
                <a:cs typeface="Times New Roman" panose="02020603050405020304" pitchFamily="18" charset="0"/>
              </a:rPr>
              <a:t>.</a:t>
            </a:r>
            <a:endParaRPr lang="en-IN" sz="2000" dirty="0">
              <a:effectLst/>
              <a:latin typeface="Times New Roman" panose="02020603050405020304" pitchFamily="18" charset="0"/>
              <a:ea typeface="Wingdings" panose="05000000000000000000" pitchFamily="2" charset="2"/>
              <a:cs typeface="Times New Roman" panose="02020603050405020304" pitchFamily="18" charset="0"/>
            </a:endParaRPr>
          </a:p>
          <a:p>
            <a:pPr marL="432000" marR="457835" lvl="2" indent="0">
              <a:lnSpc>
                <a:spcPct val="150000"/>
              </a:lnSpc>
              <a:spcBef>
                <a:spcPts val="1200"/>
              </a:spcBef>
              <a:buSzPts val="1200"/>
              <a:buNone/>
              <a:tabLst>
                <a:tab pos="686435" algn="l"/>
              </a:tabLst>
            </a:pPr>
            <a:r>
              <a:rPr lang="en-US" sz="2000" dirty="0">
                <a:latin typeface="Times New Roman" panose="02020603050405020304" pitchFamily="18" charset="0"/>
                <a:cs typeface="Times New Roman" panose="02020603050405020304" pitchFamily="18" charset="0"/>
              </a:rPr>
              <a:t>● The system can detect the approach of an ambulance through sound receiver or other tracking methods, and it communicates with the traffic light infrastructure to give the emergency    vehicle a green light as it approaches Intersections</a:t>
            </a:r>
            <a:r>
              <a:rPr lang="en-US" sz="2000" b="0" i="0" dirty="0">
                <a:latin typeface="Times New Roman" panose="02020603050405020304" pitchFamily="18" charset="0"/>
                <a:cs typeface="Times New Roman" panose="02020603050405020304" pitchFamily="18" charset="0"/>
              </a:rPr>
              <a:t>.</a:t>
            </a:r>
            <a:endParaRPr lang="en-IN" sz="2000" dirty="0">
              <a:effectLst/>
              <a:latin typeface="Times New Roman" panose="02020603050405020304" pitchFamily="18" charset="0"/>
              <a:ea typeface="Wingdings" panose="05000000000000000000" pitchFamily="2" charset="2"/>
              <a:cs typeface="Times New Roman" panose="02020603050405020304" pitchFamily="18" charset="0"/>
            </a:endParaRPr>
          </a:p>
          <a:p>
            <a:pPr marL="432000" lvl="2" indent="0">
              <a:spcBef>
                <a:spcPts val="1200"/>
              </a:spcBef>
              <a:buSzPts val="1200"/>
              <a:buNone/>
              <a:tabLst>
                <a:tab pos="686435" algn="l"/>
              </a:tabLst>
            </a:pPr>
            <a:r>
              <a:rPr lang="en-US" sz="2000" dirty="0">
                <a:latin typeface="Times New Roman" panose="02020603050405020304" pitchFamily="18" charset="0"/>
                <a:cs typeface="Times New Roman" panose="02020603050405020304" pitchFamily="18" charset="0"/>
              </a:rPr>
              <a:t>● It enhances the efficiency and effectiveness of emergency services, ultimately improving public safety and saving lives</a:t>
            </a:r>
            <a:r>
              <a:rPr lang="en-US" sz="1600" dirty="0"/>
              <a:t>.</a:t>
            </a:r>
            <a:endParaRPr lang="en-US" sz="2000" dirty="0">
              <a:effectLst/>
              <a:latin typeface="Times New Roman" panose="02020603050405020304" pitchFamily="18" charset="0"/>
              <a:ea typeface="Wingdings" panose="05000000000000000000" pitchFamily="2" charset="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C076C-7E16-4D50-8B73-D9DDD77EACC4}"/>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APPLICATION OF AUTOMATIC TRAFFIC LIGHT CONTOLLER FOR EMERGENCY VEHICLE</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7E2BB3-6211-449C-AC30-9A5A61FAE19E}"/>
              </a:ext>
            </a:extLst>
          </p:cNvPr>
          <p:cNvSpPr>
            <a:spLocks noGrp="1"/>
          </p:cNvSpPr>
          <p:nvPr>
            <p:ph idx="1"/>
          </p:nvPr>
        </p:nvSpPr>
        <p:spPr/>
        <p:txBody>
          <a:bodyPr/>
          <a:lstStyle/>
          <a:p>
            <a:r>
              <a:rPr lang="en-US" dirty="0"/>
              <a:t>This application is help to long way in reducing the number of emergency accidents.</a:t>
            </a:r>
          </a:p>
          <a:p>
            <a:r>
              <a:rPr lang="en-US" dirty="0"/>
              <a:t>The traffic light controller can detect the approach of an emergency vehicle and automatically change the signals and allowing the vehicle to pass through quickly and safely.</a:t>
            </a:r>
          </a:p>
          <a:p>
            <a:r>
              <a:rPr lang="en-US" dirty="0"/>
              <a:t>Traffic congestion can lead to cost savings for emergency services and the public.</a:t>
            </a:r>
          </a:p>
          <a:p>
            <a:r>
              <a:rPr lang="en-US" dirty="0"/>
              <a:t>This allows emergency services to communicate directly with the traffic light system.</a:t>
            </a:r>
            <a:endParaRPr lang="en-IN" dirty="0"/>
          </a:p>
        </p:txBody>
      </p:sp>
    </p:spTree>
    <p:extLst>
      <p:ext uri="{BB962C8B-B14F-4D97-AF65-F5344CB8AC3E}">
        <p14:creationId xmlns:p14="http://schemas.microsoft.com/office/powerpoint/2010/main" val="118373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2388"/>
            <a:ext cx="10972800" cy="914400"/>
          </a:xfrm>
        </p:spPr>
        <p:txBody>
          <a:bodyPr>
            <a:normAutofit/>
          </a:bodyPr>
          <a:lstStyle/>
          <a:p>
            <a:r>
              <a:rPr lang="en-US" sz="4400" dirty="0">
                <a:latin typeface="Times New Roman" pitchFamily="18" charset="0"/>
                <a:cs typeface="Times New Roman" pitchFamily="18" charset="0"/>
              </a:rPr>
              <a:t>                        CONCLUSION</a:t>
            </a:r>
          </a:p>
        </p:txBody>
      </p:sp>
      <p:sp>
        <p:nvSpPr>
          <p:cNvPr id="3" name="Content Placeholder 2"/>
          <p:cNvSpPr>
            <a:spLocks noGrp="1"/>
          </p:cNvSpPr>
          <p:nvPr>
            <p:ph idx="1"/>
          </p:nvPr>
        </p:nvSpPr>
        <p:spPr>
          <a:xfrm>
            <a:off x="609600" y="1411941"/>
            <a:ext cx="10972800" cy="5446059"/>
          </a:xfrm>
        </p:spPr>
        <p:txBody>
          <a:bodyPr>
            <a:normAutofit/>
          </a:bodyPr>
          <a:lstStyle/>
          <a:p>
            <a:pPr marL="540000" algn="just">
              <a:spcBef>
                <a:spcPts val="600"/>
              </a:spcBef>
              <a:buNone/>
            </a:pPr>
            <a:r>
              <a:rPr lang="en-US" sz="2000" dirty="0">
                <a:latin typeface="Times New Roman" pitchFamily="18" charset="0"/>
                <a:cs typeface="Times New Roman" pitchFamily="18" charset="0"/>
              </a:rPr>
              <a:t>            </a:t>
            </a:r>
            <a:r>
              <a:rPr lang="en-US" sz="2000" dirty="0">
                <a:effectLst/>
                <a:latin typeface="Times New Roman" panose="02020603050405020304" pitchFamily="18" charset="0"/>
                <a:ea typeface="Times New Roman" panose="02020603050405020304" pitchFamily="18" charset="0"/>
              </a:rPr>
              <a:t>With automatic traffic signal control based on the traffic density in the route, the manual</a:t>
            </a:r>
            <a:r>
              <a:rPr lang="en-US" sz="2000" spc="-28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effort on the part of the traffic policeman is saved. As the entire system is automated, it requires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very less human intervention, the signal automatically turns to red,</a:t>
            </a:r>
            <a:r>
              <a:rPr lang="en-US" sz="2000" spc="-28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so that the police officer can take appropriate action, if he/she is present at the junction. Emergency vehicles like ambulance, fire trucks, need to reach their destinations at 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earliest. If they spend a lot of time in traffic jams, precious lives of many people may be in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danger.</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With</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emergency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vehicle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clearance,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traffic</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signal</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turns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to</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green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long</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 </a:t>
            </a:r>
            <a:r>
              <a:rPr lang="en-US" sz="2000" spc="-28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emergency vehicle is waiting in the traffic junction. The signal turns to red, only after the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emergency</a:t>
            </a:r>
            <a:r>
              <a:rPr lang="en-US" sz="2000" spc="-3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vehicle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passes through</a:t>
            </a:r>
            <a:r>
              <a:rPr lang="en-US" sz="2000" dirty="0">
                <a:latin typeface="Times New Roman" pitchFamily="18" charset="0"/>
                <a:cs typeface="Times New Roman" pitchFamily="18" charset="0"/>
              </a:rPr>
              <a:t>. </a:t>
            </a:r>
          </a:p>
          <a:p>
            <a:pPr marL="540000" algn="just">
              <a:spcBef>
                <a:spcPts val="600"/>
              </a:spcBef>
              <a:buNone/>
            </a:pPr>
            <a:endParaRPr lang="en-US" sz="2000" dirty="0">
              <a:latin typeface="Times New Roman" pitchFamily="18" charset="0"/>
              <a:cs typeface="Times New Roman" pitchFamily="18" charset="0"/>
            </a:endParaRPr>
          </a:p>
          <a:p>
            <a:pPr marL="540000" algn="just">
              <a:spcBef>
                <a:spcPts val="600"/>
              </a:spcBef>
              <a:buNone/>
            </a:pPr>
            <a:r>
              <a:rPr lang="en-US" sz="2000" dirty="0">
                <a:effectLst/>
                <a:latin typeface="Times New Roman" panose="02020603050405020304" pitchFamily="18" charset="0"/>
                <a:ea typeface="Times New Roman" panose="02020603050405020304" pitchFamily="18" charset="0"/>
              </a:rPr>
              <a:t>             The</a:t>
            </a:r>
            <a:r>
              <a:rPr lang="en-US" sz="2000" spc="1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system</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has</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been</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developed</a:t>
            </a:r>
            <a:r>
              <a:rPr lang="en-US" sz="2000" spc="1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with</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much</a:t>
            </a:r>
            <a:r>
              <a:rPr lang="en-US" sz="2000" spc="1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care</a:t>
            </a:r>
            <a:r>
              <a:rPr lang="en-US" sz="2000" spc="1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that</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it</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is</a:t>
            </a:r>
            <a:r>
              <a:rPr lang="en-US" sz="2000" spc="1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free</a:t>
            </a:r>
            <a:r>
              <a:rPr lang="en-US" sz="2000" spc="1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a:t>
            </a:r>
            <a:r>
              <a:rPr lang="en-US" sz="2000" spc="1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errors</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and</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a:t>
            </a:r>
            <a:r>
              <a:rPr lang="en-US" sz="2000" spc="1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1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same</a:t>
            </a:r>
            <a:r>
              <a:rPr lang="en-US" sz="2000" spc="-29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time it is efficient and less time consuming. The important thing is that the system is robust.</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Avoid malfunction from outsiders .It goes through all phases of software development cycle. So</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product</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is accurate.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Also</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provision is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provided for future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developments in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 system.</a:t>
            </a:r>
            <a:endParaRPr lang="en-IN" sz="2000" dirty="0">
              <a:effectLst/>
              <a:latin typeface="Times New Roman" panose="02020603050405020304" pitchFamily="18" charset="0"/>
              <a:ea typeface="Times New Roman" panose="02020603050405020304" pitchFamily="18" charset="0"/>
            </a:endParaRPr>
          </a:p>
          <a:p>
            <a:pPr marL="540000" algn="just">
              <a:spcBef>
                <a:spcPts val="600"/>
              </a:spcBef>
              <a:buNone/>
            </a:pPr>
            <a:endParaRPr lang="en-US" sz="20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a:latin typeface="Times New Roman" pitchFamily="18" charset="0"/>
                <a:cs typeface="Times New Roman" pitchFamily="18" charset="0"/>
              </a:rPr>
              <a:t>                          REFERENCES</a:t>
            </a:r>
            <a:br>
              <a:rPr lang="en-US" sz="4400" dirty="0">
                <a:latin typeface="Times New Roman" pitchFamily="18" charset="0"/>
                <a:cs typeface="Times New Roman" pitchFamily="18" charset="0"/>
              </a:rPr>
            </a:br>
            <a:endParaRPr lang="en-US" sz="4400" dirty="0">
              <a:latin typeface="Times New Roman" pitchFamily="18" charset="0"/>
              <a:cs typeface="Times New Roman" pitchFamily="18" charset="0"/>
            </a:endParaRPr>
          </a:p>
        </p:txBody>
      </p:sp>
      <p:sp>
        <p:nvSpPr>
          <p:cNvPr id="3" name="Content Placeholder 2"/>
          <p:cNvSpPr>
            <a:spLocks noGrp="1"/>
          </p:cNvSpPr>
          <p:nvPr>
            <p:ph idx="1"/>
          </p:nvPr>
        </p:nvSpPr>
        <p:spPr>
          <a:xfrm>
            <a:off x="188685" y="1600203"/>
            <a:ext cx="12003315" cy="5061857"/>
          </a:xfrm>
        </p:spPr>
        <p:txBody>
          <a:bodyPr>
            <a:normAutofit/>
          </a:bodyPr>
          <a:lstStyle/>
          <a:p>
            <a:pPr marL="342900" marR="455295" lvl="0" indent="-342900" algn="just">
              <a:lnSpc>
                <a:spcPct val="150000"/>
              </a:lnSpc>
              <a:spcAft>
                <a:spcPts val="0"/>
              </a:spcAft>
              <a:buSzPts val="1200"/>
              <a:buFont typeface="Times New Roman" panose="02020603050405020304" pitchFamily="18" charset="0"/>
              <a:buAutoNum type="arabicPeriod"/>
              <a:tabLst>
                <a:tab pos="475615" algn="l"/>
              </a:tabLst>
            </a:pPr>
            <a:r>
              <a:rPr lang="en-US" sz="1800" spc="0" dirty="0">
                <a:effectLst/>
                <a:latin typeface="Times New Roman" panose="02020603050405020304" pitchFamily="18" charset="0"/>
                <a:ea typeface="Times New Roman" panose="02020603050405020304" pitchFamily="18" charset="0"/>
              </a:rPr>
              <a:t>G. </a:t>
            </a:r>
            <a:r>
              <a:rPr lang="en-US" sz="1800" spc="0" dirty="0" err="1">
                <a:effectLst/>
                <a:latin typeface="Times New Roman" panose="02020603050405020304" pitchFamily="18" charset="0"/>
                <a:ea typeface="Times New Roman" panose="02020603050405020304" pitchFamily="18" charset="0"/>
              </a:rPr>
              <a:t>Varaprasad</a:t>
            </a:r>
            <a:r>
              <a:rPr lang="en-US" sz="1800" spc="0" dirty="0">
                <a:effectLst/>
                <a:latin typeface="Times New Roman" panose="02020603050405020304" pitchFamily="18" charset="0"/>
                <a:ea typeface="Times New Roman" panose="02020603050405020304" pitchFamily="18" charset="0"/>
              </a:rPr>
              <a:t> and R. S. D. </a:t>
            </a:r>
            <a:r>
              <a:rPr lang="en-US" sz="1800" spc="0" dirty="0" err="1">
                <a:effectLst/>
                <a:latin typeface="Times New Roman" panose="02020603050405020304" pitchFamily="18" charset="0"/>
                <a:ea typeface="Times New Roman" panose="02020603050405020304" pitchFamily="18" charset="0"/>
              </a:rPr>
              <a:t>Wahidabanu</a:t>
            </a:r>
            <a:r>
              <a:rPr lang="en-US" sz="1800" spc="0" dirty="0">
                <a:effectLst/>
                <a:latin typeface="Times New Roman" panose="02020603050405020304" pitchFamily="18" charset="0"/>
                <a:ea typeface="Times New Roman" panose="02020603050405020304" pitchFamily="18" charset="0"/>
              </a:rPr>
              <a:t>, “Flexible routing algorithm for vehicular area</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networks,” in Proc. IEEE Conf. </a:t>
            </a:r>
            <a:r>
              <a:rPr lang="en-US" sz="1800" spc="0" dirty="0" err="1">
                <a:effectLst/>
                <a:latin typeface="Times New Roman" panose="02020603050405020304" pitchFamily="18" charset="0"/>
                <a:ea typeface="Times New Roman" panose="02020603050405020304" pitchFamily="18" charset="0"/>
              </a:rPr>
              <a:t>Intell</a:t>
            </a:r>
            <a:r>
              <a:rPr lang="en-US" sz="1800" spc="0" dirty="0">
                <a:effectLst/>
                <a:latin typeface="Times New Roman" panose="02020603050405020304" pitchFamily="18" charset="0"/>
                <a:ea typeface="Times New Roman" panose="02020603050405020304" pitchFamily="18" charset="0"/>
              </a:rPr>
              <a:t>. Transp. </a:t>
            </a:r>
            <a:r>
              <a:rPr lang="en-US" sz="1800" spc="0" dirty="0" err="1">
                <a:effectLst/>
                <a:latin typeface="Times New Roman" panose="02020603050405020304" pitchFamily="18" charset="0"/>
                <a:ea typeface="Times New Roman" panose="02020603050405020304" pitchFamily="18" charset="0"/>
              </a:rPr>
              <a:t>Syst.Telecommun</a:t>
            </a:r>
            <a:r>
              <a:rPr lang="en-US" sz="1800" spc="0" dirty="0">
                <a:effectLst/>
                <a:latin typeface="Times New Roman" panose="02020603050405020304" pitchFamily="18" charset="0"/>
                <a:ea typeface="Times New Roman" panose="02020603050405020304" pitchFamily="18" charset="0"/>
              </a:rPr>
              <a:t>., Osaka, Japan, 2010, pp. 30–</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38.</a:t>
            </a:r>
            <a:endParaRPr lang="en-IN" sz="1800" spc="0" dirty="0">
              <a:effectLst/>
              <a:latin typeface="Times New Roman" panose="02020603050405020304" pitchFamily="18" charset="0"/>
              <a:ea typeface="Times New Roman" panose="02020603050405020304" pitchFamily="18" charset="0"/>
            </a:endParaRPr>
          </a:p>
          <a:p>
            <a:pPr marL="342900" marR="460375" lvl="0" indent="-342900" algn="just">
              <a:lnSpc>
                <a:spcPct val="150000"/>
              </a:lnSpc>
              <a:spcBef>
                <a:spcPts val="990"/>
              </a:spcBef>
              <a:spcAft>
                <a:spcPts val="0"/>
              </a:spcAft>
              <a:buSzPts val="1200"/>
              <a:buFont typeface="Times New Roman" panose="02020603050405020304" pitchFamily="18" charset="0"/>
              <a:buAutoNum type="arabicPeriod"/>
              <a:tabLst>
                <a:tab pos="478790" algn="l"/>
              </a:tabLst>
            </a:pPr>
            <a:r>
              <a:rPr lang="en-US" sz="1800" spc="0" dirty="0">
                <a:effectLst/>
                <a:latin typeface="Times New Roman" panose="02020603050405020304" pitchFamily="18" charset="0"/>
                <a:ea typeface="Times New Roman" panose="02020603050405020304" pitchFamily="18" charset="0"/>
              </a:rPr>
              <a:t>B. P. </a:t>
            </a:r>
            <a:r>
              <a:rPr lang="en-US" sz="1800" spc="0" dirty="0" err="1">
                <a:effectLst/>
                <a:latin typeface="Times New Roman" panose="02020603050405020304" pitchFamily="18" charset="0"/>
                <a:ea typeface="Times New Roman" panose="02020603050405020304" pitchFamily="18" charset="0"/>
              </a:rPr>
              <a:t>Gokulan</a:t>
            </a:r>
            <a:r>
              <a:rPr lang="en-US" sz="1800" spc="0" dirty="0">
                <a:effectLst/>
                <a:latin typeface="Times New Roman" panose="02020603050405020304" pitchFamily="18" charset="0"/>
                <a:ea typeface="Times New Roman" panose="02020603050405020304" pitchFamily="18" charset="0"/>
              </a:rPr>
              <a:t> and D. Srinivasan, “Distributed geometric fuzzy multiagent urban traffic</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signal</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control,” IEEE</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Trans.</a:t>
            </a:r>
            <a:r>
              <a:rPr lang="en-US" sz="1800" spc="5" dirty="0">
                <a:effectLst/>
                <a:latin typeface="Times New Roman" panose="02020603050405020304" pitchFamily="18" charset="0"/>
                <a:ea typeface="Times New Roman" panose="02020603050405020304" pitchFamily="18" charset="0"/>
              </a:rPr>
              <a:t> </a:t>
            </a:r>
            <a:r>
              <a:rPr lang="en-US" sz="1800" spc="0" dirty="0" err="1">
                <a:effectLst/>
                <a:latin typeface="Times New Roman" panose="02020603050405020304" pitchFamily="18" charset="0"/>
                <a:ea typeface="Times New Roman" panose="02020603050405020304" pitchFamily="18" charset="0"/>
              </a:rPr>
              <a:t>Intell</a:t>
            </a:r>
            <a:r>
              <a:rPr lang="en-US" sz="1800" spc="0" dirty="0">
                <a:effectLst/>
                <a:latin typeface="Times New Roman" panose="02020603050405020304" pitchFamily="18" charset="0"/>
                <a:ea typeface="Times New Roman" panose="02020603050405020304" pitchFamily="18" charset="0"/>
              </a:rPr>
              <a:t>. Transp.</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Syst.,</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vol. 11,</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no. 3,</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pp. 714–727,</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Sep. 2010.</a:t>
            </a:r>
            <a:endParaRPr lang="en-IN" sz="1800" spc="0" dirty="0">
              <a:effectLst/>
              <a:latin typeface="Times New Roman" panose="02020603050405020304" pitchFamily="18" charset="0"/>
              <a:ea typeface="Times New Roman" panose="02020603050405020304" pitchFamily="18" charset="0"/>
            </a:endParaRPr>
          </a:p>
          <a:p>
            <a:pPr marL="342900" marR="457200" lvl="0" indent="-342900" algn="just">
              <a:lnSpc>
                <a:spcPct val="150000"/>
              </a:lnSpc>
              <a:spcBef>
                <a:spcPts val="1015"/>
              </a:spcBef>
              <a:spcAft>
                <a:spcPts val="0"/>
              </a:spcAft>
              <a:buSzPts val="1200"/>
              <a:buFont typeface="Times New Roman" panose="02020603050405020304" pitchFamily="18" charset="0"/>
              <a:buAutoNum type="arabicPeriod"/>
              <a:tabLst>
                <a:tab pos="472440" algn="l"/>
              </a:tabLst>
            </a:pPr>
            <a:r>
              <a:rPr lang="en-US" sz="1800" spc="0" dirty="0">
                <a:effectLst/>
                <a:latin typeface="Times New Roman" panose="02020603050405020304" pitchFamily="18" charset="0"/>
                <a:ea typeface="Times New Roman" panose="02020603050405020304" pitchFamily="18" charset="0"/>
              </a:rPr>
              <a:t>K. </a:t>
            </a:r>
            <a:r>
              <a:rPr lang="en-US" sz="1800" spc="0" dirty="0" err="1">
                <a:effectLst/>
                <a:latin typeface="Times New Roman" panose="02020603050405020304" pitchFamily="18" charset="0"/>
                <a:ea typeface="Times New Roman" panose="02020603050405020304" pitchFamily="18" charset="0"/>
              </a:rPr>
              <a:t>Sridharamurthy</a:t>
            </a:r>
            <a:r>
              <a:rPr lang="en-US" sz="1800" spc="0" dirty="0">
                <a:effectLst/>
                <a:latin typeface="Times New Roman" panose="02020603050405020304" pitchFamily="18" charset="0"/>
                <a:ea typeface="Times New Roman" panose="02020603050405020304" pitchFamily="18" charset="0"/>
              </a:rPr>
              <a:t>, A. P. </a:t>
            </a:r>
            <a:r>
              <a:rPr lang="en-US" sz="1800" spc="0" dirty="0" err="1">
                <a:effectLst/>
                <a:latin typeface="Times New Roman" panose="02020603050405020304" pitchFamily="18" charset="0"/>
                <a:ea typeface="Times New Roman" panose="02020603050405020304" pitchFamily="18" charset="0"/>
              </a:rPr>
              <a:t>Govinda</a:t>
            </a:r>
            <a:r>
              <a:rPr lang="en-US" sz="1800" spc="0" dirty="0">
                <a:effectLst/>
                <a:latin typeface="Times New Roman" panose="02020603050405020304" pitchFamily="18" charset="0"/>
                <a:ea typeface="Times New Roman" panose="02020603050405020304" pitchFamily="18" charset="0"/>
              </a:rPr>
              <a:t>, J. D. Gopal, and G. </a:t>
            </a:r>
            <a:r>
              <a:rPr lang="en-US" sz="1800" spc="0" dirty="0" err="1">
                <a:effectLst/>
                <a:latin typeface="Times New Roman" panose="02020603050405020304" pitchFamily="18" charset="0"/>
                <a:ea typeface="Times New Roman" panose="02020603050405020304" pitchFamily="18" charset="0"/>
              </a:rPr>
              <a:t>Varaprasad</a:t>
            </a:r>
            <a:r>
              <a:rPr lang="en-US" sz="1800" spc="0" dirty="0">
                <a:effectLst/>
                <a:latin typeface="Times New Roman" panose="02020603050405020304" pitchFamily="18" charset="0"/>
                <a:ea typeface="Times New Roman" panose="02020603050405020304" pitchFamily="18" charset="0"/>
              </a:rPr>
              <a:t>, “Violation detection</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method</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for</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vehicular ad</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hoc</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networking,”</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Security</a:t>
            </a:r>
            <a:r>
              <a:rPr lang="en-US" sz="1800" spc="-15" dirty="0">
                <a:effectLst/>
                <a:latin typeface="Times New Roman" panose="02020603050405020304" pitchFamily="18" charset="0"/>
                <a:ea typeface="Times New Roman" panose="02020603050405020304" pitchFamily="18" charset="0"/>
              </a:rPr>
              <a:t> </a:t>
            </a:r>
            <a:r>
              <a:rPr lang="en-US" sz="1800" spc="0" dirty="0" err="1">
                <a:effectLst/>
                <a:latin typeface="Times New Roman" panose="02020603050405020304" pitchFamily="18" charset="0"/>
                <a:ea typeface="Times New Roman" panose="02020603050405020304" pitchFamily="18" charset="0"/>
              </a:rPr>
              <a:t>Commun</a:t>
            </a:r>
            <a:r>
              <a:rPr lang="en-US" sz="1800" spc="0" dirty="0">
                <a:effectLst/>
                <a:latin typeface="Times New Roman" panose="02020603050405020304" pitchFamily="18" charset="0"/>
                <a:ea typeface="Times New Roman" panose="02020603050405020304" pitchFamily="18" charset="0"/>
              </a:rPr>
              <a:t>. </a:t>
            </a:r>
            <a:r>
              <a:rPr lang="en-US" sz="1800" spc="0" dirty="0" err="1">
                <a:effectLst/>
                <a:latin typeface="Times New Roman" panose="02020603050405020304" pitchFamily="18" charset="0"/>
                <a:ea typeface="Times New Roman" panose="02020603050405020304" pitchFamily="18" charset="0"/>
              </a:rPr>
              <a:t>Netw</a:t>
            </a:r>
            <a:r>
              <a:rPr lang="en-US" sz="1800" spc="0" dirty="0">
                <a:effectLst/>
                <a:latin typeface="Times New Roman" panose="02020603050405020304" pitchFamily="18" charset="0"/>
                <a:ea typeface="Times New Roman" panose="02020603050405020304" pitchFamily="18" charset="0"/>
              </a:rPr>
              <a:t>., to be published.</a:t>
            </a:r>
            <a:endParaRPr lang="en-IN" sz="1800" spc="0" dirty="0">
              <a:effectLst/>
              <a:latin typeface="Times New Roman" panose="02020603050405020304" pitchFamily="18" charset="0"/>
              <a:ea typeface="Times New Roman" panose="02020603050405020304" pitchFamily="18" charset="0"/>
            </a:endParaRPr>
          </a:p>
          <a:p>
            <a:pPr marL="342900" marR="453390" lvl="0" indent="-342900" algn="just">
              <a:lnSpc>
                <a:spcPct val="150000"/>
              </a:lnSpc>
              <a:spcBef>
                <a:spcPts val="995"/>
              </a:spcBef>
              <a:spcAft>
                <a:spcPts val="0"/>
              </a:spcAft>
              <a:buSzPts val="1200"/>
              <a:buFont typeface="Times New Roman" panose="02020603050405020304" pitchFamily="18" charset="0"/>
              <a:buAutoNum type="arabicPeriod"/>
              <a:tabLst>
                <a:tab pos="475615" algn="l"/>
              </a:tabLst>
            </a:pPr>
            <a:r>
              <a:rPr lang="en-US" sz="1800" spc="0" dirty="0">
                <a:effectLst/>
                <a:latin typeface="Times New Roman" panose="02020603050405020304" pitchFamily="18" charset="0"/>
                <a:ea typeface="Times New Roman" panose="02020603050405020304" pitchFamily="18" charset="0"/>
              </a:rPr>
              <a:t>M. </a:t>
            </a:r>
            <a:r>
              <a:rPr lang="en-US" sz="1800" spc="0" dirty="0" err="1">
                <a:effectLst/>
                <a:latin typeface="Times New Roman" panose="02020603050405020304" pitchFamily="18" charset="0"/>
                <a:ea typeface="Times New Roman" panose="02020603050405020304" pitchFamily="18" charset="0"/>
              </a:rPr>
              <a:t>Abdoos</a:t>
            </a:r>
            <a:r>
              <a:rPr lang="en-US" sz="1800" spc="0" dirty="0">
                <a:effectLst/>
                <a:latin typeface="Times New Roman" panose="02020603050405020304" pitchFamily="18" charset="0"/>
                <a:ea typeface="Times New Roman" panose="02020603050405020304" pitchFamily="18" charset="0"/>
              </a:rPr>
              <a:t>, N. </a:t>
            </a:r>
            <a:r>
              <a:rPr lang="en-US" sz="1800" spc="0" dirty="0" err="1">
                <a:effectLst/>
                <a:latin typeface="Times New Roman" panose="02020603050405020304" pitchFamily="18" charset="0"/>
                <a:ea typeface="Times New Roman" panose="02020603050405020304" pitchFamily="18" charset="0"/>
              </a:rPr>
              <a:t>Mozayani</a:t>
            </a:r>
            <a:r>
              <a:rPr lang="en-US" sz="1800" spc="0" dirty="0">
                <a:effectLst/>
                <a:latin typeface="Times New Roman" panose="02020603050405020304" pitchFamily="18" charset="0"/>
                <a:ea typeface="Times New Roman" panose="02020603050405020304" pitchFamily="18" charset="0"/>
              </a:rPr>
              <a:t>, and A. L. C. </a:t>
            </a:r>
            <a:r>
              <a:rPr lang="en-US" sz="1800" spc="0" dirty="0" err="1">
                <a:effectLst/>
                <a:latin typeface="Times New Roman" panose="02020603050405020304" pitchFamily="18" charset="0"/>
                <a:ea typeface="Times New Roman" panose="02020603050405020304" pitchFamily="18" charset="0"/>
              </a:rPr>
              <a:t>Bazzan</a:t>
            </a:r>
            <a:r>
              <a:rPr lang="en-US" sz="1800" spc="0" dirty="0">
                <a:effectLst/>
                <a:latin typeface="Times New Roman" panose="02020603050405020304" pitchFamily="18" charset="0"/>
                <a:ea typeface="Times New Roman" panose="02020603050405020304" pitchFamily="18" charset="0"/>
              </a:rPr>
              <a:t>, “Traffic light control in non-stationary</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environments based on multi agent Q-learning,” in Proc.14th Int. IEEE Conf. </a:t>
            </a:r>
            <a:r>
              <a:rPr lang="en-US" sz="1800" spc="0" dirty="0" err="1">
                <a:effectLst/>
                <a:latin typeface="Times New Roman" panose="02020603050405020304" pitchFamily="18" charset="0"/>
                <a:ea typeface="Times New Roman" panose="02020603050405020304" pitchFamily="18" charset="0"/>
              </a:rPr>
              <a:t>Intell</a:t>
            </a:r>
            <a:r>
              <a:rPr lang="en-US" sz="1800" spc="0" dirty="0">
                <a:effectLst/>
                <a:latin typeface="Times New Roman" panose="02020603050405020304" pitchFamily="18" charset="0"/>
                <a:ea typeface="Times New Roman" panose="02020603050405020304" pitchFamily="18" charset="0"/>
              </a:rPr>
              <a:t>. Transp.</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Syst., Oct. 2011, pp. 580–1585.</a:t>
            </a:r>
            <a:endParaRPr lang="en-IN" sz="1800" spc="0" dirty="0">
              <a:effectLst/>
              <a:latin typeface="Times New Roman" panose="02020603050405020304" pitchFamily="18" charset="0"/>
              <a:ea typeface="Times New Roman" panose="02020603050405020304" pitchFamily="18" charset="0"/>
            </a:endParaRPr>
          </a:p>
          <a:p>
            <a:pPr marL="342900" lvl="0" indent="-342900" algn="just">
              <a:spcBef>
                <a:spcPts val="1000"/>
              </a:spcBef>
              <a:spcAft>
                <a:spcPts val="0"/>
              </a:spcAft>
              <a:buSzPts val="1200"/>
              <a:buFont typeface="Times New Roman" panose="02020603050405020304" pitchFamily="18" charset="0"/>
              <a:buAutoNum type="arabicPeriod"/>
              <a:tabLst>
                <a:tab pos="447040" algn="l"/>
              </a:tabLst>
            </a:pPr>
            <a:r>
              <a:rPr lang="en-US" sz="1800" spc="0" dirty="0">
                <a:effectLst/>
                <a:latin typeface="Times New Roman" panose="02020603050405020304" pitchFamily="18" charset="0"/>
                <a:ea typeface="Times New Roman" panose="02020603050405020304" pitchFamily="18" charset="0"/>
              </a:rPr>
              <a:t>ZigBee</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Specifications,</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ZigBee</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Alliance</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IEEE</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Standard</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802.15.4k2013, 2014.</a:t>
            </a:r>
            <a:endParaRPr lang="en-IN" sz="1800" spc="0" dirty="0">
              <a:effectLst/>
              <a:latin typeface="Times New Roman" panose="02020603050405020304" pitchFamily="18" charset="0"/>
              <a:ea typeface="Times New Roman" panose="02020603050405020304" pitchFamily="18" charset="0"/>
            </a:endParaRPr>
          </a:p>
          <a:p>
            <a:pPr marL="0" indent="0">
              <a:spcBef>
                <a:spcPts val="25"/>
              </a:spcBef>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lvl="0" indent="0" algn="just">
              <a:buSzPts val="1200"/>
              <a:buNone/>
              <a:tabLst>
                <a:tab pos="447040" algn="l"/>
              </a:tabLst>
            </a:pPr>
            <a:r>
              <a:rPr lang="en-US" sz="1800" dirty="0">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Traffic</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Congestion</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in Bangalore—A</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Rising</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Concern.</a:t>
            </a:r>
            <a:endParaRPr lang="en-IN" sz="1800" dirty="0">
              <a:effectLst/>
              <a:latin typeface="Times New Roman" panose="02020603050405020304" pitchFamily="18" charset="0"/>
              <a:ea typeface="Times New Roman" panose="02020603050405020304" pitchFamily="18"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75D44E-3D3B-43F6-84B4-2689FD75909D}"/>
              </a:ext>
            </a:extLst>
          </p:cNvPr>
          <p:cNvSpPr>
            <a:spLocks noGrp="1"/>
          </p:cNvSpPr>
          <p:nvPr>
            <p:ph type="title"/>
          </p:nvPr>
        </p:nvSpPr>
        <p:spPr>
          <a:xfrm>
            <a:off x="609600" y="1609724"/>
            <a:ext cx="10972800" cy="1390650"/>
          </a:xfrm>
        </p:spPr>
        <p:txBody>
          <a:bodyPr>
            <a:normAutofit/>
          </a:bodyPr>
          <a:lstStyle/>
          <a:p>
            <a:pPr algn="ctr"/>
            <a:r>
              <a:rPr lang="en-IN" b="1" dirty="0">
                <a:latin typeface="Times New Roman" panose="02020603050405020304" pitchFamily="18" charset="0"/>
                <a:cs typeface="Times New Roman" panose="02020603050405020304" pitchFamily="18" charset="0"/>
              </a:rPr>
              <a:t>THANK</a:t>
            </a:r>
          </a:p>
        </p:txBody>
      </p:sp>
      <p:sp>
        <p:nvSpPr>
          <p:cNvPr id="5" name="Content Placeholder 4">
            <a:extLst>
              <a:ext uri="{FF2B5EF4-FFF2-40B4-BE49-F238E27FC236}">
                <a16:creationId xmlns:a16="http://schemas.microsoft.com/office/drawing/2014/main" id="{99403AAC-1D1E-4F19-9DFB-371855ADCEC9}"/>
              </a:ext>
            </a:extLst>
          </p:cNvPr>
          <p:cNvSpPr>
            <a:spLocks noGrp="1"/>
          </p:cNvSpPr>
          <p:nvPr>
            <p:ph idx="1"/>
          </p:nvPr>
        </p:nvSpPr>
        <p:spPr>
          <a:xfrm>
            <a:off x="609600" y="3000374"/>
            <a:ext cx="10972800" cy="3324225"/>
          </a:xfrm>
        </p:spPr>
        <p:txBody>
          <a:bodyPr>
            <a:normAutofit/>
          </a:bodyPr>
          <a:lstStyle/>
          <a:p>
            <a:pPr marL="0" indent="0" algn="ctr">
              <a:buNone/>
            </a:pPr>
            <a:r>
              <a:rPr lang="en-IN" sz="4800" b="1" dirty="0">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3290496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4309</TotalTime>
  <Words>1192</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Constantia</vt:lpstr>
      <vt:lpstr>Times New Roman</vt:lpstr>
      <vt:lpstr>Wingdings</vt:lpstr>
      <vt:lpstr>Wingdings 2</vt:lpstr>
      <vt:lpstr>Flow</vt:lpstr>
      <vt:lpstr>     VIJAYA VITTALA INSTITUTE OF TECHNOLOGY Mini Project Presentation on</vt:lpstr>
      <vt:lpstr>           CONTENT</vt:lpstr>
      <vt:lpstr>INTRODUCTION</vt:lpstr>
      <vt:lpstr>.</vt:lpstr>
      <vt:lpstr>         OBJECTIVES</vt:lpstr>
      <vt:lpstr>METHOLOGY</vt:lpstr>
      <vt:lpstr>;</vt:lpstr>
      <vt:lpstr>                                            Fig : ARDUINO UNO BOARD </vt:lpstr>
      <vt:lpstr>                                                      Fig : USB TO UART</vt:lpstr>
      <vt:lpstr>WORKING OF AUTOMATIC TRAFFIC LIGHT CONTOLLER FOR EMERGENCY VEHICLE </vt:lpstr>
      <vt:lpstr>ADAVANTAGES AUTOMATIC TRAFFIC LIGHT CONTOLLER FOR EMERGENCY VEHICLE </vt:lpstr>
      <vt:lpstr>APPLICATION OF AUTOMATIC TRAFFIC LIGHT CONTOLLER FOR EMERGENCY VEHICLE</vt:lpstr>
      <vt:lpstr>                        CONCLUSION</vt:lpstr>
      <vt:lpstr>                          REFERENCES </vt:lpstr>
      <vt:lpstr>THANK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Concreting.</dc:title>
  <dc:creator>Ranjith</dc:creator>
  <cp:lastModifiedBy>Mohammad Yusuf</cp:lastModifiedBy>
  <cp:revision>395</cp:revision>
  <dcterms:created xsi:type="dcterms:W3CDTF">2017-10-11T13:13:06Z</dcterms:created>
  <dcterms:modified xsi:type="dcterms:W3CDTF">2023-07-20T05:25:17Z</dcterms:modified>
</cp:coreProperties>
</file>